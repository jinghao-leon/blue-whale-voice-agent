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03045E"/>
                </a:solidFill>
                <a:latin typeface="Arial"/>
              </a:rPr>
              <a:t>Voice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077B6"/>
                </a:solidFill>
                <a:latin typeface="Microsoft YaHei"/>
              </a:rPr>
              <a:t>蓝色鲸鱼科技园 · 访客登记系统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rial"/>
              </a:rPr>
              <a:t>Take-Home Exam Submission ·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77B6"/>
                </a:solidFill>
                <a:latin typeface="Arial"/>
              </a:rP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3383280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33832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77B6"/>
                </a:solidFill>
                <a:latin typeface="Arial"/>
              </a:rPr>
              <a:t>Twilio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383280"/>
            <a:ext cx="1554480" cy="320040"/>
          </a:xfrm>
          <a:prstGeom prst="roundRect">
            <a:avLst>
              <a:gd name="adj" fmla="val 40000"/>
            </a:avLst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3832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77B6"/>
                </a:solidFill>
                <a:latin typeface="Arial"/>
              </a:rPr>
              <a:t>Deepgram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383280"/>
            <a:ext cx="1371600" cy="320040"/>
          </a:xfrm>
          <a:prstGeom prst="roundRect">
            <a:avLst>
              <a:gd name="adj" fmla="val 40000"/>
            </a:avLst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3832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77B6"/>
                </a:solidFill>
                <a:latin typeface="Arial"/>
              </a:rPr>
              <a:t>GPT-4o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383280"/>
            <a:ext cx="1280160" cy="320040"/>
          </a:xfrm>
          <a:prstGeom prst="roundRect">
            <a:avLst>
              <a:gd name="adj" fmla="val 40000"/>
            </a:avLst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3832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77B6"/>
                </a:solidFill>
                <a:latin typeface="Arial"/>
              </a:rPr>
              <a:t>Edge 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Whale Tech Take-Home Exam · Voice Agent for Industrial 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上海蓝色鲸鱼科技有限公司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3045E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icrosoft YaHei"/>
              </a:rPr>
              <a:t>报告目录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8046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373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3045E"/>
                </a:solidFill>
                <a:latin typeface="Microsoft YaHei"/>
              </a:rPr>
              <a:t>业务背景与痛点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7373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Industrial Park Visitor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3045E"/>
                </a:solidFill>
                <a:latin typeface="Microsoft YaHei"/>
              </a:rPr>
              <a:t>系统架构与技术选型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286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System Architecture &amp; Tech Choices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346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3045E"/>
                </a:solidFill>
                <a:latin typeface="Microsoft YaHei"/>
              </a:rPr>
              <a:t>对话体验标准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834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Conversation Quality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3045E"/>
                </a:solidFill>
                <a:latin typeface="Microsoft YaHei"/>
              </a:rPr>
              <a:t>25 秒 SLA 时延拆解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383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End-to-End Latency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31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3045E"/>
                </a:solidFill>
                <a:latin typeface="Microsoft YaHei"/>
              </a:rPr>
              <a:t>企业微信集成与交付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931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WeChat Work Integration &amp;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4114800" cy="4023360"/>
          </a:xfrm>
          <a:prstGeom prst="roundRect">
            <a:avLst>
              <a:gd name="adj" fmla="val 10000"/>
            </a:avLst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0" b="1">
                <a:solidFill>
                  <a:srgbClr val="0077B6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rial"/>
              </a:rPr>
              <a:t>PART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3716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3045E"/>
                </a:solidFill>
                <a:latin typeface="Microsoft YaHei"/>
              </a:rPr>
              <a:t>业务背景与痛点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103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77B6"/>
                </a:solidFill>
                <a:latin typeface="Arial"/>
              </a:rPr>
              <a:t>Business Context &amp; Pain Points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2606040"/>
            <a:ext cx="36576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37760" y="2788920"/>
            <a:ext cx="3840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从人工问询到 AI 接听：
解决园区访客登记低效、人力浪费的问题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业务场景：园区访客登记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Industrial Park Visitor Registration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8046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630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3045E"/>
                </a:solidFill>
                <a:latin typeface="Microsoft YaHei"/>
              </a:rPr>
              <a:t>① 当前流程（人工）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91440" cy="3200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1. 访客车到达入口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79"/>
            <a:ext cx="91440" cy="3200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7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2. 海康门禁识别车牌：“未登记”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39"/>
            <a:ext cx="91440" cy="3200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3. 保安带纸质登记表走出保安室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71799"/>
            <a:ext cx="91440" cy="3200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7179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4. 口头询问并手工填写信息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59"/>
            <a:ext cx="91440" cy="3200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3755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5. 遥控器手动抬杆放行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Microsoft YaHei"/>
              </a:rPr>
              <a:t>⚠ 痛点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03045E"/>
                </a:solidFill>
                <a:latin typeface="Microsoft YaHei"/>
              </a:rPr>
              <a:t>低效 · 人力浪费 · 依赖纸质 · 冬天难受 · 难以审计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4630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77B6"/>
                </a:solidFill>
                <a:latin typeface="Microsoft YaHei"/>
              </a:rPr>
              <a:t>② 目标流程（AI 自动化）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874519"/>
            <a:ext cx="9144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187451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1. 访客拨打园区热线电话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240279"/>
            <a:ext cx="9144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24027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2. AI 接听 · 自然对话采集信息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606039"/>
            <a:ext cx="9144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26060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3. 结构化信息推送至门卫企业微信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971799"/>
            <a:ext cx="9144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297179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4. 门卫确认 · 远程接放行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79476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38862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icrosoft YaHei"/>
              </a:rPr>
              <a:t>✓ 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16052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03045E"/>
                </a:solidFill>
                <a:latin typeface="Microsoft YaHei"/>
              </a:rPr>
              <a:t>25 秒完成 · 7×24h 随时 · 可审计 · 多车并发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4114800" cy="4023360"/>
          </a:xfrm>
          <a:prstGeom prst="roundRect">
            <a:avLst>
              <a:gd name="adj" fmla="val 10000"/>
            </a:avLst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0" b="1">
                <a:solidFill>
                  <a:srgbClr val="0077B6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rial"/>
              </a:rPr>
              <a:t>PART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3716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3045E"/>
                </a:solidFill>
                <a:latin typeface="Microsoft YaHei"/>
              </a:rPr>
              <a:t>系统架构与技术选型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103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77B6"/>
                </a:solidFill>
                <a:latin typeface="Arial"/>
              </a:rPr>
              <a:t>System Architecture &amp; Tech Choices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2606040"/>
            <a:ext cx="36576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37760" y="2788920"/>
            <a:ext cx="3840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Twilio · Deepgram · GPT-4o-mini · Edge TTS · 企业微信 Webhook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系统架构图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End-to-End Architecture · Twilio Media Streams + FastAPI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8046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46304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03045E"/>
                </a:solidFill>
                <a:latin typeface="Microsoft YaHei"/>
              </a:rPr>
              <a:t>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3045E"/>
                </a:solidFill>
                <a:latin typeface="Microsoft YaHei"/>
              </a:rPr>
              <a:t>访客车主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46304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4630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92400E"/>
                </a:solidFill>
                <a:latin typeface="Arial"/>
              </a:rPr>
              <a:t>☁ Twilio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830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2400E"/>
                </a:solidFill>
                <a:latin typeface="Arial"/>
              </a:rPr>
              <a:t>Media Streams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3716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1371600"/>
            <a:ext cx="3291840" cy="2743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3716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⚙ FastAPI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783080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78308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E40AF"/>
                </a:solidFill>
                <a:latin typeface="Arial"/>
              </a:rPr>
              <a:t>🎙 STT
Deepgram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783080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78308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9F1239"/>
                </a:solidFill>
                <a:latin typeface="Arial"/>
              </a:rPr>
              <a:t>🧠 LLM Agent
gpt-4o-mini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2377440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37744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E40AF"/>
                </a:solidFill>
                <a:latin typeface="Arial"/>
              </a:rPr>
              <a:t>🔊 TTS
Edge TTS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2377440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37744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rial"/>
              </a:rPr>
              <a:t>🗜 SQLite
+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2971800"/>
            <a:ext cx="3017520" cy="5029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9718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4532D"/>
                </a:solidFill>
                <a:latin typeface="Arial"/>
              </a:rPr>
              <a:t>💬 WeChat Webhook Client (markdown card)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566160"/>
            <a:ext cx="3017520" cy="6400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611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92400E"/>
                </a:solidFill>
                <a:latin typeface="Microsoft YaHei"/>
              </a:rPr>
              <a:t>⏱ SLA ≤ 25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886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2400E"/>
                </a:solidFill>
                <a:latin typeface="Microsoft YaHei"/>
              </a:rPr>
              <a:t>实测 3-6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14630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463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Microsoft YaHei"/>
              </a:rPr>
              <a:t>💬 企业微信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783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4532D"/>
                </a:solidFill>
                <a:latin typeface="Microsoft YaHei"/>
              </a:rPr>
              <a:t>门卫群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23317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9F1239"/>
                </a:solidFill>
                <a:latin typeface="Microsoft YaHei"/>
              </a:rPr>
              <a:t>👮 门卫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F1239"/>
                </a:solidFill>
                <a:latin typeface="Microsoft YaHei"/>
              </a:rPr>
              <a:t>手机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10896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108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rial"/>
              </a:rPr>
              <a:t>☁ OpenAI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383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5B21B6"/>
                </a:solidFill>
                <a:latin typeface="Arial"/>
              </a:rPr>
              <a:t>GPT-4o-mini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388620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Microsoft YaHei"/>
              </a:rPr>
              <a:t>☁ 外部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160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E3A8A"/>
                </a:solidFill>
                <a:latin typeface="Arial"/>
              </a:rPr>
              <a:t>Deepgram + Edge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645920" y="1828800"/>
            <a:ext cx="1828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17520" y="1828800"/>
            <a:ext cx="18288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92240" y="1828800"/>
            <a:ext cx="18288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92240" y="2651760"/>
            <a:ext cx="182880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48640" y="4572000"/>
            <a:ext cx="5852160" cy="4114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572000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YaHei"/>
              </a:rPr>
              <a:t>💡 关键设计：唯一 `send_to_guard_and_end_call` 工具控制结束通话，必须先推送企业微信后才能挂断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4114800" cy="4023360"/>
          </a:xfrm>
          <a:prstGeom prst="roundRect">
            <a:avLst>
              <a:gd name="adj" fmla="val 10000"/>
            </a:avLst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0" b="1">
                <a:solidFill>
                  <a:srgbClr val="0077B6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rial"/>
              </a:rPr>
              <a:t>PART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3716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3045E"/>
                </a:solidFill>
                <a:latin typeface="Microsoft YaHei"/>
              </a:rPr>
              <a:t>对话体验标准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103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77B6"/>
                </a:solidFill>
                <a:latin typeface="Arial"/>
              </a:rPr>
              <a:t>Conversation Quality Standards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2606040"/>
            <a:ext cx="36576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37760" y="2788920"/>
            <a:ext cx="3840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不要机械式一问一答：
少轮次 · 多字段合并 · 像真人门卫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对话体验对比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Bad vs Good Conversation Examples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8046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463040"/>
            <a:ext cx="4023360" cy="30175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Microsoft YaHei"/>
              </a:rPr>
              <a:t>✗ 机械式一问一答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6 轮 · 约 45 s · 完全不可接受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Microsoft YaHei"/>
              </a:rPr>
              <a:t>AI: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请问车牌号？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Microsoft YaHei"/>
              </a:rPr>
              <a:t>用户: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沪A12345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Microsoft YaHei"/>
              </a:rPr>
              <a:t>AI: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请问来访哪家公司？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Microsoft YaHei"/>
              </a:rPr>
              <a:t>用户: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蓝色鲸鱼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Microsoft YaHei"/>
              </a:rPr>
              <a:t>AI: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请问事由？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Microsoft YaHei"/>
              </a:rPr>
              <a:t>用户: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送货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Microsoft YaHei"/>
              </a:rPr>
              <a:t>AI: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请问手机号？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Microsoft YaHei"/>
              </a:rPr>
              <a:t>用户: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138xxxx1234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Microsoft YaHei"/>
              </a:rPr>
              <a:t>AI: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预计停留？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463040"/>
            <a:ext cx="4023360" cy="3017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✓ 自然对话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920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3 轮 · 约 15 s · 又快又好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2860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Microsoft YaHei"/>
              </a:rPr>
              <a:t>AI: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您好，请讲一下车牌、来哪家公司、什么事？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560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Microsoft YaHei"/>
              </a:rPr>
              <a:t>用户: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沪A12345，来蓝色鲸鱼送货。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83463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Microsoft YaHei"/>
              </a:rPr>
              <a:t>AI: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收到，手机号方便留一下吗？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10895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Microsoft YaHei"/>
              </a:rPr>
              <a:t>用户: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13812345678。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38327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Microsoft YaHei"/>
              </a:rPr>
              <a:t>AI: </a:t>
            </a:r>
          </a:p>
          <a:p>
            <a:pPr algn="l"/>
            <a:r>
              <a:rPr sz="900" b="0">
                <a:solidFill>
                  <a:srgbClr val="03045E"/>
                </a:solidFill>
                <a:latin typeface="Microsoft YaHei"/>
              </a:rPr>
              <a:t>沪A12345，蓝色鲸鱼送货，已通知门卫，请稍等。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617720"/>
            <a:ext cx="8229600" cy="3657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61772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2400E"/>
                </a:solidFill>
                <a:latin typeface="Microsoft YaHei"/>
              </a:rPr>
              <a:t>✨ 加分：回访识别，2 轮 · 约 8 s —— “张师傅您好，今天是不是和上次一样来送货？”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25 秒 SLA 时延拆解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End-to-End Latency Breakdown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8046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实测总时延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10B981"/>
                </a:solidFill>
                <a:latin typeface="Arial"/>
              </a:rPr>
              <a:t>3-6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秒（中位数）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SLA 上限：25 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636422" cy="548640"/>
          </a:xfrm>
          <a:prstGeom prst="roundRect">
            <a:avLst>
              <a:gd name="adj" fmla="val 3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63642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0.6s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4022" y="1828800"/>
            <a:ext cx="424281" cy="548640"/>
          </a:xfrm>
          <a:prstGeom prst="roundRect">
            <a:avLst>
              <a:gd name="adj" fmla="val 3000"/>
            </a:avLst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4022" y="1828800"/>
            <a:ext cx="4242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0.4s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1828800"/>
            <a:ext cx="742492" cy="548640"/>
          </a:xfrm>
          <a:prstGeom prst="roundRect">
            <a:avLst>
              <a:gd name="adj" fmla="val 3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1828800"/>
            <a:ext cx="7424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0.7s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0796" y="1828800"/>
            <a:ext cx="424281" cy="548640"/>
          </a:xfrm>
          <a:prstGeom prst="roundRect">
            <a:avLst>
              <a:gd name="adj" fmla="val 3000"/>
            </a:avLst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0796" y="1828800"/>
            <a:ext cx="4242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0.4s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85078" y="1828800"/>
            <a:ext cx="212140" cy="548640"/>
          </a:xfrm>
          <a:prstGeom prst="roundRect">
            <a:avLst>
              <a:gd name="adj" fmla="val 3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5078" y="1828800"/>
            <a:ext cx="2121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0.2s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4688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→ 时间轴（总计 ~2.3 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43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为什么能达到 3-6 秒？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200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1. 流式 STT：用户说完前已经拿到 interim 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474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2. 增量 LLM：听到一个字段就调 update_visitor_info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74903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3. 流式 TTS：第一个句子生成后立即下行，后续同步生成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2335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4. 上下文压缩：系统提示词 &lt; 1.1 KB，TTFT &lt; 600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9767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5. 函数调用单点收口：WeChat 推送与 LLM 应答并行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企业微信集成与交付清单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WeChat Work Integration &amp; Delivery Checklist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8046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3045E"/>
                </a:solidFill>
                <a:latin typeface="Microsoft YaHei"/>
              </a:rPr>
              <a:t>💬 企业微信集成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群机器人 Webhook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5 分钟接入，0 审批，0 费用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73152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Markdown 卡片推送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40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车牌·公司·事由·手机·预计停留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73152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历史来访列表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51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回访识别与可审计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63240"/>
            <a:ext cx="73152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错误重试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063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errcode 优先级判断，不重试授权错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73152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交付形式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474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代码完整 + .env.example + README + 架构图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4173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3045E"/>
                </a:solidFill>
                <a:latin typeface="Microsoft YaHei"/>
              </a:rPr>
              <a:t>📸 企业微信卡片预览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1828800"/>
            <a:ext cx="3840480" cy="2788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## 🚗 新访客登记 🆕 回访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车牌号：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31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045E"/>
                </a:solidFill>
                <a:latin typeface="Microsoft YaHei"/>
              </a:rPr>
              <a:t>沪A12345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60603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受访公司：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60603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045E"/>
                </a:solidFill>
                <a:latin typeface="Microsoft YaHei"/>
              </a:rPr>
              <a:t>蓝色鲸鱼科技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88035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来访事由：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88035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045E"/>
                </a:solidFill>
                <a:latin typeface="Microsoft YaHei"/>
              </a:rPr>
              <a:t>送货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15467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访客姓名：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15467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045E"/>
                </a:solidFill>
                <a:latin typeface="Microsoft YaHei"/>
              </a:rPr>
              <a:t>张师傅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342899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联系电话：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42899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045E"/>
                </a:solidFill>
                <a:latin typeface="Microsoft YaHei"/>
              </a:rPr>
              <a:t>13812345678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70331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预计停留：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70331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045E"/>
                </a:solidFill>
                <a:latin typeface="Microsoft YaHei"/>
              </a:rPr>
              <a:t>2 小时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023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icrosoft YaHei"/>
              </a:rPr>
              <a:t>✅ 门卫请立即放行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4297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_ 通话时长 12.4s _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663440"/>
            <a:ext cx="8229600" cy="320040"/>
          </a:xfrm>
          <a:prstGeom prst="roundRect">
            <a:avLst>
              <a:gd name="adj" fmla="val 5000"/>
            </a:avLst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77B6"/>
                </a:solidFill>
                <a:latin typeface="Microsoft YaHei"/>
              </a:rPr>
              <a:t>谢谢 · Thanks for your time · hr@whaletech.ai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